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37160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B8A6"/>
                </a:solidFill>
                <a:latin typeface="맑은 고딕"/>
              </a:rPr>
              <a:t>제5회 고용노동 공공데이터·AI 활용 공모전  |  아이디어 기획 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</a:rPr>
              <a:t>WageGuard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공공데이터·AI 기반 이주노동자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임금 착취 </a:t>
            </a:r>
            <a:r>
              <a:rPr sz="3000" b="1">
                <a:solidFill>
                  <a:srgbClr val="14B8A6"/>
                </a:solidFill>
                <a:latin typeface="맑은 고딕"/>
              </a:rPr>
              <a:t>위험 스크리닝</a:t>
            </a:r>
            <a:r>
              <a:rPr sz="3000" b="1">
                <a:solidFill>
                  <a:srgbClr val="FFFFFF"/>
                </a:solidFill>
                <a:latin typeface="맑은 고딕"/>
              </a:rPr>
              <a:t> · 감독 우선순위 제안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맑은 고딕"/>
              </a:rPr>
              <a:t>신고 이전 단계에서, 신고할 수 없는 피해자를 국가가 먼저 찾아가도록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440680"/>
            <a:ext cx="4754880" cy="19050"/>
          </a:xfrm>
          <a:prstGeom prst="rect">
            <a:avLst/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77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선문대학교 컴퓨터공학과  </a:t>
            </a:r>
            <a:r>
              <a:rPr sz="1500" b="1">
                <a:solidFill>
                  <a:srgbClr val="14B8A6"/>
                </a:solidFill>
                <a:latin typeface="맑은 고딕"/>
              </a:rPr>
              <a:t>김태성</a:t>
            </a:r>
            <a:r>
              <a:rPr sz="1200" b="0">
                <a:solidFill>
                  <a:srgbClr val="94A3B8"/>
                </a:solidFill>
                <a:latin typeface="맑은 고딕"/>
              </a:rPr>
              <a:t>      github.com/kts6450/WageGuard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발표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28016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1226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4884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A43"/>
                </a:solidFill>
                <a:latin typeface="맑은 고딕"/>
              </a:rPr>
              <a:t>문제 정의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신고할 수 없는 111만 외국인 취업자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6596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965960"/>
            <a:ext cx="128016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11226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4884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A43"/>
                </a:solidFill>
                <a:latin typeface="맑은 고딕"/>
              </a:rPr>
              <a:t>해결 아이디어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WageGuard — 셀 단위 스크리닝 파이프라인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2900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429000"/>
            <a:ext cx="128016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57530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61188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A43"/>
                </a:solidFill>
                <a:latin typeface="맑은 고딕"/>
              </a:rPr>
              <a:t>데이터 &amp; 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공공데이터 3계층 + 4종 AI 모델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42900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3429000"/>
            <a:ext cx="128016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57530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61188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A43"/>
                </a:solidFill>
                <a:latin typeface="맑은 고딕"/>
              </a:rPr>
              <a:t>실증 &amp; 검증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공개 데이터 재구축 · 외부 명단 5.2배 포착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9204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892040"/>
            <a:ext cx="128016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03834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07492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A43"/>
                </a:solidFill>
                <a:latin typeface="맑은 고딕"/>
              </a:rPr>
              <a:t>기대효과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점검 효율 개선 · 찾아가는 행정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89204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4892040"/>
            <a:ext cx="128016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03834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07492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A43"/>
                </a:solidFill>
                <a:latin typeface="맑은 고딕"/>
              </a:rPr>
              <a:t>한계 · 로드맵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정직한 한계 인정 · 단계적 실증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01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신고할 수 없는 피해자들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</a:rPr>
              <a:t>이주노동자 임금 착취 </a:t>
            </a:r>
            <a:r>
              <a:rPr sz="1800" b="1">
                <a:solidFill>
                  <a:srgbClr val="EF4B4B"/>
                </a:solidFill>
                <a:latin typeface="맑은 고딕"/>
              </a:rPr>
              <a:t>신고율은 5% 미만</a:t>
            </a:r>
            <a:r>
              <a:rPr sz="1800" b="0">
                <a:solidFill>
                  <a:srgbClr val="1E293B"/>
                </a:solidFill>
                <a:latin typeface="맑은 고딕"/>
              </a:rPr>
              <a:t>. 가장 취약한 사람이 가장 신고하지 못한다.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109728" cy="1600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15768"/>
            <a:ext cx="30175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110.9만 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국내 외국인 취업자 · 역대 최고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광·제조업 46만 · E-9 32만 (통계청 2025)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51460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2514600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715768"/>
            <a:ext cx="30175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59E0B"/>
                </a:solidFill>
                <a:latin typeface="맑은 고딕"/>
              </a:rPr>
              <a:t>계약 ≠ 현실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표준계약 체결에도 위반 대응 곤란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언어 장벽·체류자격(비자) 종속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251460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2514600"/>
            <a:ext cx="109728" cy="1600200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715768"/>
            <a:ext cx="30175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F4B4B"/>
                </a:solidFill>
                <a:latin typeface="맑은 고딕"/>
              </a:rPr>
              <a:t>&lt; 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실제 신고 도달률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언어장벽·비자취소 위협·감독 한계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34840"/>
            <a:ext cx="10607040" cy="160020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2700">
            <a:solidFill>
              <a:srgbClr val="F7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B4B"/>
                </a:solidFill>
                <a:latin typeface="맑은 고딕"/>
              </a:rPr>
              <a:t>신고에 도달하지 못하는 구조적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5663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</a:rPr>
              <a:t>•  언어 장벽으로 신고 절차 접근성 부족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</a:rPr>
              <a:t>•  체류자격(비자) 취소 위협에 대한 두려움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</a:rPr>
              <a:t>•  근로감독관 1인당 담당 사업장 수천 개 — 구조적 자원 한계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01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기존 접근의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맑은 고딕"/>
              </a:rPr>
              <a:t>지금의 대응은 </a:t>
            </a:r>
            <a:r>
              <a:rPr sz="1700" b="1">
                <a:solidFill>
                  <a:srgbClr val="EF4B4B"/>
                </a:solidFill>
                <a:latin typeface="맑은 고딕"/>
              </a:rPr>
              <a:t>피해자의 자력 신고</a:t>
            </a:r>
            <a:r>
              <a:rPr sz="1700" b="0">
                <a:solidFill>
                  <a:srgbClr val="1E293B"/>
                </a:solidFill>
                <a:latin typeface="맑은 고딕"/>
              </a:rPr>
              <a:t>에 의존한다.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3291840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신고 기반 사후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68880"/>
            <a:ext cx="6858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</a:rPr>
              <a:t>피해자 자력 신고에 의존 → 가장 취약한 이주노동자가 가장 적게 신고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4904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49040"/>
            <a:ext cx="3291840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49040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단순 통계 보고서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749040"/>
            <a:ext cx="6858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</a:rPr>
              <a:t>산업·연도 단위 거시 추이 중심 → 현장 점검 우선순위로 환원되지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2920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029200"/>
            <a:ext cx="3291840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29200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기존 부정수급 탐지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029200"/>
            <a:ext cx="6858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</a:rPr>
              <a:t>사업주 행정 데이터 위주 → 임금·근로조건 위반의 미시 패턴 미반영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02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WageGuard — 어떻게 작동하는가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맑은 고딕"/>
              </a:rPr>
              <a:t>공공데이터를 </a:t>
            </a:r>
            <a:r>
              <a:rPr sz="1700" b="1">
                <a:solidFill>
                  <a:srgbClr val="14B8A6"/>
                </a:solidFill>
                <a:latin typeface="맑은 고딕"/>
              </a:rPr>
              <a:t>AI 위험 스코어</a:t>
            </a:r>
            <a:r>
              <a:rPr sz="1700" b="0">
                <a:solidFill>
                  <a:srgbClr val="1E293B"/>
                </a:solidFill>
                <a:latin typeface="맑은 고딕"/>
              </a:rPr>
              <a:t>로 바꿔, 신고 이전에 </a:t>
            </a:r>
            <a:r>
              <a:rPr sz="1700" b="1">
                <a:solidFill>
                  <a:srgbClr val="14B8A6"/>
                </a:solidFill>
                <a:latin typeface="맑은 고딕"/>
              </a:rPr>
              <a:t>산업×지역×고용형태 셀 단위 감독 우선순위</a:t>
            </a:r>
            <a:r>
              <a:rPr sz="1700" b="0">
                <a:solidFill>
                  <a:srgbClr val="1E293B"/>
                </a:solidFill>
                <a:latin typeface="맑은 고딕"/>
              </a:rPr>
              <a:t>를 제안한다.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06040"/>
            <a:ext cx="2487168" cy="5029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맑은 고딕"/>
              </a:rPr>
              <a:t>전면 공개 행정데이터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21214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국민연금 사업장 54만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임금체불 공개 명단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E-9 근무현황 (승인 불필요)</a:t>
            </a:r>
          </a:p>
        </p:txBody>
      </p:sp>
      <p:sp>
        <p:nvSpPr>
          <p:cNvPr id="15" name="Chevron 14"/>
          <p:cNvSpPr/>
          <p:nvPr/>
        </p:nvSpPr>
        <p:spPr>
          <a:xfrm>
            <a:off x="3291840" y="3602736"/>
            <a:ext cx="292608" cy="29260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260604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606040"/>
            <a:ext cx="2487168" cy="5029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606040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  셀 프로파일링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24612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맑은 고딕"/>
              </a:rPr>
              <a:t>실측 위험 신호 3종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3840480"/>
            <a:ext cx="21214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저임금(인당 보험료)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고용 불안정(취득·상실)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영세성(5인 미만 비중)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3602736"/>
            <a:ext cx="292608" cy="29260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60604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606040"/>
            <a:ext cx="248716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06040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  AI 스코어링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맑은 고딕"/>
              </a:rPr>
              <a:t>4종 모델 앙상블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21214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XGBoost · LNN/LSTM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PyOD 이상탐지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+ 이주노동자 가중치</a:t>
            </a:r>
          </a:p>
        </p:txBody>
      </p:sp>
      <p:sp>
        <p:nvSpPr>
          <p:cNvPr id="27" name="Chevron 26"/>
          <p:cNvSpPr/>
          <p:nvPr/>
        </p:nvSpPr>
        <p:spPr>
          <a:xfrm>
            <a:off x="8778240" y="3602736"/>
            <a:ext cx="292608" cy="29260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60604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2606040"/>
            <a:ext cx="2487168" cy="5029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606040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  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24612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F2A43"/>
                </a:solidFill>
                <a:latin typeface="맑은 고딕"/>
              </a:rPr>
              <a:t>셀 단위 우선순위 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840480"/>
            <a:ext cx="21214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산업×지역×고용형태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위험 지도 · 우선순위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Precision@K 외부 검증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25780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B8A6"/>
                </a:solidFill>
                <a:latin typeface="맑은 고딕"/>
              </a:rPr>
              <a:t>결과 → </a:t>
            </a:r>
            <a:r>
              <a:rPr sz="1500" b="1">
                <a:solidFill>
                  <a:srgbClr val="FFFFFF"/>
                </a:solidFill>
                <a:latin typeface="맑은 고딕"/>
              </a:rPr>
              <a:t>셀 단위 감독 우선순위 · 이주노동자 지원 선제 배정  </a:t>
            </a:r>
            <a:r>
              <a:rPr sz="1200" b="0">
                <a:solidFill>
                  <a:srgbClr val="94A3B8"/>
                </a:solidFill>
                <a:latin typeface="맑은 고딕"/>
              </a:rPr>
              <a:t>(개별 사업장 지목·자동 처벌 아님, 감독관 판단 보조)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03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활용 공공데이터 — 3계층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4290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3429000" cy="64008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고용노동부 (주최)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2971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임금체불 사업주 명단 → 외부 검증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연도별 근로사건 현황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고용형태별근로실태조사 개방판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최저임금위원회 (라벨 근거)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874519"/>
            <a:ext cx="34290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874519"/>
            <a:ext cx="3429000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874519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한국고용정보원 (주관)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97479"/>
            <a:ext cx="2971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외국인근로자 근무현황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→ 이주노동자 가중치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EIS 고용행정통계 (노출 보정)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워크피디아 임금분포 (보조 라벨)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874519"/>
            <a:ext cx="34290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874519"/>
            <a:ext cx="342900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874519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공개 행정데이터 (실증 실사용)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697479"/>
            <a:ext cx="2971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국민연금 사업장 내역 54만 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임금체불 공개 명단 769명(중복 제거)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E-9 시도×업종 28.5만 (KOSIS)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(보조 연구) MDIS 491만 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7492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E6F7F4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846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B8A6"/>
                </a:solidFill>
                <a:latin typeface="맑은 고딕"/>
              </a:rPr>
              <a:t>가점 “나” 충족  </a:t>
            </a:r>
            <a:r>
              <a:rPr sz="1400" b="1">
                <a:solidFill>
                  <a:srgbClr val="1E293B"/>
                </a:solidFill>
                <a:latin typeface="맑은 고딕"/>
              </a:rPr>
              <a:t>한국고용정보원(주관) 공공데이터 직접 활용 → +2점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개인 식별 변수 미사용 · MDIS 비밀유지 서약 준수 · 개방판과 변수 정합 유지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04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아키텍처 — 검증이 먼저, 고도화는 그 위에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2487168" cy="1097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9456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맑은 고딕"/>
              </a:rPr>
              <a:t>① 신호 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9748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맑은 고딕"/>
              </a:rPr>
              <a:t>가동 중 — 3신호 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154680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저임금·고이직·영세성을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z-표준화 합성 → 셀 위험점수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9202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920240"/>
            <a:ext cx="248716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219456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B8A6"/>
                </a:solidFill>
                <a:latin typeface="맑은 고딕"/>
              </a:rPr>
              <a:t>② 검증 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69748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맑은 고딕"/>
              </a:rPr>
              <a:t>가동 중 — 외부 채점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154680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체불 명단 독립 채점 5.2배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순열검정·가중치 민감도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9202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920240"/>
            <a:ext cx="248716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19456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맑은 고딕"/>
              </a:rPr>
              <a:t>③ 학습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69748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맑은 고딕"/>
              </a:rPr>
              <a:t>로드맵 — 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154680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점검 결과(명중률) 축적 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데이터가 가중치를 학습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202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920240"/>
            <a:ext cx="2487168" cy="109728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19456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F4B4B"/>
                </a:solidFill>
                <a:latin typeface="맑은 고딕"/>
              </a:rPr>
              <a:t>④ 시계열 확장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69748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맑은 고딕"/>
              </a:rPr>
              <a:t>로드맵 — LNN 경보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154680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고용보험 이력 연계 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일 단위 준실시간 경보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34840"/>
            <a:ext cx="10607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9943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B8A6"/>
                </a:solidFill>
                <a:latin typeface="맑은 고딕"/>
              </a:rPr>
              <a:t>신뢰성 보강 — 심사·정책 활용을 위한 검증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56632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누수 통제: 위험 지표(국민연금)와 채점 데이터(체불 명단)를 소스부터 분리 — 순환 불가 구조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가중치: 임의 상수 대신 동일가중 z-합성 + 200조합 섭동 민감도(순위 상관 0.93) + 과거 차수 학습 계수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외부 검증 완료: 임금체불 공개 명단 769명 매칭 → 상위 10% 셀 포착 30% (고용 기준 5.2배·사업장 기준 2.4배)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04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아이디어가 아니라 실물 — 감독관용 운영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08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6949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ops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11680"/>
            <a:ext cx="6729984" cy="3588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18288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맑은 고딕"/>
              </a:rPr>
              <a:t>감독관 워크플로 (구현 완료)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377440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2377440"/>
            <a:ext cx="109728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24414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F2A43"/>
                </a:solidFill>
                <a:latin typeface="맑은 고딕"/>
              </a:rPr>
              <a:t>① 관할 선택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시군구×업종 1,873셀 중 내 관할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127248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3127248"/>
            <a:ext cx="109728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31912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F2A43"/>
                </a:solidFill>
                <a:latin typeface="맑은 고딕"/>
              </a:rPr>
              <a:t>② 우선순위 + 근거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“고이직+저임금” 등 신호 명시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877056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3877056"/>
            <a:ext cx="109728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394106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F2A43"/>
                </a:solidFill>
                <a:latin typeface="맑은 고딕"/>
              </a:rPr>
              <a:t>③ 점검 계획서 발급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CSV 한 클릭 — 현장 투입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626864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4626864"/>
            <a:ext cx="109728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469087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F2A43"/>
                </a:solidFill>
                <a:latin typeface="맑은 고딕"/>
              </a:rPr>
              <a:t>④ 결과 입력 → 환류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명중률 자동 집계·지표 재보정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4864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매월 자동 갱신 · 개별 사업장 자동 처분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05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실증 결과 — 전면 공개 데이터로 재구축·검증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09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4871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109728" cy="14630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8"/>
            <a:ext cx="21214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54만 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국민연금 전 사업장 실측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2026-05 · 가입자 1,118만 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4871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109728" cy="1463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2029968"/>
            <a:ext cx="21214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769명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임금체불 공개 명단(중복 제거)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2023~2026 6개 차수 전수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4871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029968"/>
            <a:ext cx="21214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59E0B"/>
                </a:solidFill>
                <a:latin typeface="맑은 고딕"/>
              </a:rPr>
              <a:t>5.2배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상위 10% 셀 체불 포착 (고용 기준)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고용 6% → 체불 30% · 사업장 수 기준 2.4배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48716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828800"/>
            <a:ext cx="109728" cy="1463040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2029968"/>
            <a:ext cx="21214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F4B4B"/>
                </a:solidFill>
                <a:latin typeface="맑은 고딕"/>
              </a:rPr>
              <a:t>4.7배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홀드아웃 차수(25~26) 검증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지표 산출에 전혀 쓰지 않은 명단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1188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39896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맑은 고딕"/>
              </a:rPr>
              <a:t>순환논리가 구조적으로 불가능한 검증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2E8F0"/>
                </a:solidFill>
                <a:latin typeface="맑은 고딕"/>
              </a:rPr>
              <a:t>위험 지표는 국민연금 행정데이터(저임금·고이직·영세성)만으로 산출 — 임금체불 명단은 오직 채점에만 사용. 서로 독립된 두 공공데이터.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92040"/>
            <a:ext cx="517550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29200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B8A6"/>
                </a:solidFill>
                <a:latin typeface="맑은 고딕"/>
              </a:rPr>
              <a:t>가중치 민감도 검증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동일가중 대신 무작위 가중 200조합으로 바꿔도 셀 순위 상관 평균 0.93 — 임의 가중치 논란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4892040"/>
            <a:ext cx="517550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5029200"/>
            <a:ext cx="4718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B8A6"/>
                </a:solidFill>
                <a:latin typeface="맑은 고딕"/>
              </a:rPr>
              <a:t>우연도, 업종 몰빵도 아님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순열검정 p=0.006 (무작위 1만 회 대비) · 건설업을 통째로 빼도 4.0배(고용)/2.9배(사업장)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05 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심사 전에, 스스로에게 먼저 던진 세 가지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6070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017520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26517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순환논리 아닌가?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38528"/>
            <a:ext cx="717804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EF4B4B"/>
                </a:solidFill>
                <a:latin typeface="맑은 고딕"/>
              </a:rPr>
              <a:t>위험  </a:t>
            </a:r>
            <a:r>
              <a:rPr sz="1150" b="0">
                <a:solidFill>
                  <a:srgbClr val="64748B"/>
                </a:solidFill>
                <a:latin typeface="맑은 고딕"/>
              </a:rPr>
              <a:t>규칙으로 라벨을 만들고 같은 규칙을 예측하면 성능이 과대평가된다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맑은 고딕"/>
              </a:rPr>
              <a:t>대응  </a:t>
            </a:r>
            <a:r>
              <a:rPr sz="1200" b="1">
                <a:solidFill>
                  <a:srgbClr val="1E293B"/>
                </a:solidFill>
                <a:latin typeface="맑은 고딕"/>
              </a:rPr>
              <a:t>재구축 검증은 지표(국민연금)와 채점(체불 명단)이 서로 독립된 데이터 — 구조적으로 순환 불가능. 홀드아웃 차수에서도 4.7배 유지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106070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00400"/>
            <a:ext cx="3017520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00400"/>
            <a:ext cx="26517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누수는 없었나?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10128"/>
            <a:ext cx="717804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EF4B4B"/>
                </a:solidFill>
                <a:latin typeface="맑은 고딕"/>
              </a:rPr>
              <a:t>위험  </a:t>
            </a:r>
            <a:r>
              <a:rPr sz="1150" b="0">
                <a:solidFill>
                  <a:srgbClr val="64748B"/>
                </a:solidFill>
                <a:latin typeface="맑은 고딕"/>
              </a:rPr>
              <a:t>초기 PoC의 보험 가입 수 변수(중요도 47.6%)가 라벨 정보를 재주입하고 있었다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맑은 고딕"/>
              </a:rPr>
              <a:t>대응  </a:t>
            </a:r>
            <a:r>
              <a:rPr sz="1200" b="1">
                <a:solidFill>
                  <a:srgbClr val="1E293B"/>
                </a:solidFill>
                <a:latin typeface="맑은 고딕"/>
              </a:rPr>
              <a:t>누수로 판정, 초기 AUROC 0.9998 자진 제외 — 새 검증은 외부 명단 포착률(5.2배)이라는 누수 불가능 지표로 교체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72000"/>
            <a:ext cx="106070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572000"/>
            <a:ext cx="3017520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72000"/>
            <a:ext cx="26517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통계법·데이터 변질 문제는?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681728"/>
            <a:ext cx="717804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EF4B4B"/>
                </a:solidFill>
                <a:latin typeface="맑은 고딕"/>
              </a:rPr>
              <a:t>위험  </a:t>
            </a:r>
            <a:r>
              <a:rPr sz="1150" b="0">
                <a:solidFill>
                  <a:srgbClr val="64748B"/>
                </a:solidFill>
                <a:latin typeface="맑은 고딕"/>
              </a:rPr>
              <a:t>MDIS 승인 데이터의 가공·행정 활용은 통계 목적 외 사용 소지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맑은 고딕"/>
              </a:rPr>
              <a:t>대응  </a:t>
            </a:r>
            <a:r>
              <a:rPr sz="1200" b="1">
                <a:solidFill>
                  <a:srgbClr val="1E293B"/>
                </a:solidFill>
                <a:latin typeface="맑은 고딕"/>
              </a:rPr>
              <a:t>핵심 파이프라인을 MDIS 없이 전면 공개 데이터(국민연금·체불 명단·E-9 현황)로 재구축 완료 — 제약 원천 해소, MDIS는 보조 연구용으로만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맑은 고딕"/>
              </a:rPr>
              <a:t>약점을 먼저 공개하는 이유 — 정책 도구는 화려한 수치보다 검증 가능한 정직함이 먼저이기 때문입니다.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05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점검 효율 실측 — 고용 기준 5.2배 · 사업장 기준 2.4배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63093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cell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65960"/>
            <a:ext cx="6035040" cy="41292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0" y="178308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783080"/>
            <a:ext cx="109728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984248"/>
            <a:ext cx="3703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14B8A6"/>
                </a:solidFill>
                <a:latin typeface="맑은 고딕"/>
              </a:rPr>
              <a:t>5.2배 · 2.4배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고용 기준 · 사업장 수 기준 (상위 10% 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무작위 대비 · 체불 명단 709명 매칭 실측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15468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3154680"/>
            <a:ext cx="109728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3355848"/>
            <a:ext cx="3703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59E0B"/>
                </a:solidFill>
                <a:latin typeface="맑은 고딕"/>
              </a:rPr>
              <a:t>30 → 39%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상위 10% / 20% 셀 체불 포착률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고용 6% / 10%만 점검하고도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526280"/>
            <a:ext cx="4069080" cy="14173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663440"/>
            <a:ext cx="3566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시뮬레이션이 아니라 실측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4A3B8"/>
                </a:solidFill>
                <a:latin typeface="맑은 고딕"/>
              </a:rPr>
              <a:t>순열검정 p=0.006 · 건설업 제외에도 유지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4B8A6"/>
                </a:solidFill>
                <a:latin typeface="맑은 고딕"/>
              </a:rPr>
              <a:t>시군구 해상도(1,873셀)에서도 4.9배(고용)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05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시도 × 산업 위험 지도 — 어디부터 점검하나 (실측)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68580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cell_risk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48840"/>
            <a:ext cx="6638544" cy="37341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182880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맑은 고딕"/>
              </a:rPr>
              <a:t>고위험 상위 셀 (백분위)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42316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2423160"/>
            <a:ext cx="109728" cy="594360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42316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건설업 · 세종/제주/강원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2423160"/>
            <a:ext cx="914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F4B4B"/>
                </a:solidFill>
                <a:latin typeface="맑은 고딕"/>
              </a:rPr>
              <a:t>98~100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136392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3136392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136392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숙박음식업 · 충북 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3136392"/>
            <a:ext cx="914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맑은 고딕"/>
              </a:rPr>
              <a:t>90~96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849624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3849624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849624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맑은 고딕"/>
              </a:rPr>
              <a:t>농림어업 · 전남/경북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3849624"/>
            <a:ext cx="914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맑은 고딕"/>
              </a:rPr>
              <a:t>88~94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709160"/>
            <a:ext cx="3520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맑은 고딕"/>
              </a:rPr>
              <a:t>고위험 셀 = 실제 체불 명단 최다 셀과 일치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(건설업 282명 · 제조업 186명 · 숙박음식 58명)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농림어업·숙박음식은 E-9 집중 업종 — 이주노동자 보호 우선 지역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05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이주노동자 보호 우선순위 — 노출-가중 실측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68580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migrant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48840"/>
            <a:ext cx="6638544" cy="42554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182880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A43"/>
                </a:solidFill>
                <a:latin typeface="맑은 고딕"/>
              </a:rPr>
              <a:t>E-9 285,152명 (2026.1분기)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KOSIS 시도×업종 실측 결합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74320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2743200"/>
            <a:ext cx="109728" cy="8229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83464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2A43"/>
                </a:solidFill>
                <a:latin typeface="맑은 고딕"/>
              </a:rPr>
              <a:t>규모의 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경기 제조업 — E-9 92,864명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675888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675888"/>
            <a:ext cx="109728" cy="822960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376732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F4B4B"/>
                </a:solidFill>
                <a:latin typeface="맑은 고딕"/>
              </a:rPr>
              <a:t>농도의 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전남·경기·충남 농림어업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위험 백분위 84~97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608576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4608576"/>
            <a:ext cx="109728" cy="822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4700016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맑은 고딕"/>
              </a:rPr>
              <a:t>행정 액션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통역 동반 점검·모국어 안내를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이 순서로 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6692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맑은 고딕"/>
              </a:rPr>
              <a:t>우선순위 = E-9 인원 × 셀 위험 백분위 — 두 실측의 곱, 임의 가중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06 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누가 쓰고, 어떻게 돌아가는가 — 월간 운영 사이클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342900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근로감독관 (지청)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매월 관할 우선순위 확인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점검 계획서 발급 → 현장 점검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결과 입력 → 명중률 환류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78308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783080"/>
            <a:ext cx="34290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783080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고용노동부 본부·지방청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50008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전국 위험 지도로 감독 계획 수립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분기 감독 자원 배분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정책 효과 정량 모니터링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78308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783080"/>
            <a:ext cx="34290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783080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이주노동자 지원기관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350008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E-9 밀집 × 고위험 셀 교집합에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E293B"/>
                </a:solidFill>
                <a:latin typeface="맑은 고딕"/>
              </a:rPr>
              <a:t>통역 동반 사전 안내·상담 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맑은 고딕"/>
              </a:rPr>
              <a:t>탐지 사이클 — 신고를 기다리지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1956816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97680"/>
            <a:ext cx="1956816" cy="34747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9768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매월 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736592"/>
            <a:ext cx="1700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국민연금 사업장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데이터 공표</a:t>
            </a:r>
          </a:p>
        </p:txBody>
      </p:sp>
      <p:sp>
        <p:nvSpPr>
          <p:cNvPr id="26" name="Chevron 25"/>
          <p:cNvSpPr/>
          <p:nvPr/>
        </p:nvSpPr>
        <p:spPr>
          <a:xfrm>
            <a:off x="2761488" y="4796028"/>
            <a:ext cx="237744" cy="237744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80944" y="4297680"/>
            <a:ext cx="1956816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80944" y="4297680"/>
            <a:ext cx="1956816" cy="3474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29768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+1일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736592"/>
            <a:ext cx="1700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자동 수집·재계산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(스케줄러)</a:t>
            </a:r>
          </a:p>
        </p:txBody>
      </p:sp>
      <p:sp>
        <p:nvSpPr>
          <p:cNvPr id="31" name="Chevron 30"/>
          <p:cNvSpPr/>
          <p:nvPr/>
        </p:nvSpPr>
        <p:spPr>
          <a:xfrm>
            <a:off x="4919472" y="4796028"/>
            <a:ext cx="237744" cy="237744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38928" y="4297680"/>
            <a:ext cx="1956816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38928" y="4297680"/>
            <a:ext cx="1956816" cy="3474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48656" y="429768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+1일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6944" y="4736592"/>
            <a:ext cx="1700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관할별 우선순위 갱신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위험 급등 셀 경보</a:t>
            </a:r>
          </a:p>
        </p:txBody>
      </p:sp>
      <p:sp>
        <p:nvSpPr>
          <p:cNvPr id="36" name="Chevron 35"/>
          <p:cNvSpPr/>
          <p:nvPr/>
        </p:nvSpPr>
        <p:spPr>
          <a:xfrm>
            <a:off x="7077456" y="4796028"/>
            <a:ext cx="237744" cy="237744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96912" y="4297680"/>
            <a:ext cx="1956816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96912" y="4297680"/>
            <a:ext cx="1956816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29768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월중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8" y="4736592"/>
            <a:ext cx="1700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감독관 표적 점검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지원기관 사전 안내</a:t>
            </a:r>
          </a:p>
        </p:txBody>
      </p:sp>
      <p:sp>
        <p:nvSpPr>
          <p:cNvPr id="41" name="Chevron 40"/>
          <p:cNvSpPr/>
          <p:nvPr/>
        </p:nvSpPr>
        <p:spPr>
          <a:xfrm>
            <a:off x="9235440" y="4796028"/>
            <a:ext cx="237744" cy="237744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54896" y="4297680"/>
            <a:ext cx="1956816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54896" y="4297680"/>
            <a:ext cx="1956816" cy="347472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429768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상시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82912" y="4736592"/>
            <a:ext cx="1700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결과 입력 → 명중률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→ 지표 재보정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맑은 고딕"/>
              </a:rPr>
              <a:t>주기 — 공개 데이터 기준 월 단위 자동 탐지. </a:t>
            </a:r>
            <a:r>
              <a:rPr sz="1150" b="0">
                <a:solidFill>
                  <a:srgbClr val="64748B"/>
                </a:solidFill>
                <a:latin typeface="맑은 고딕"/>
              </a:rPr>
              <a:t>체불은 수개월에 걸쳐 악화되는 과정이라 월 주기로 선행 포착 가능 · 기관 연계(고용보험 취득·상실 신고) 시 일 단위 준실시간으로 확장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06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단계적 실증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이미 작동하는 파이프라인 위에서 </a:t>
            </a:r>
            <a:r>
              <a:rPr sz="1500" b="1">
                <a:solidFill>
                  <a:srgbClr val="14B8A6"/>
                </a:solidFill>
                <a:latin typeface="맑은 고딕"/>
              </a:rPr>
              <a:t>수상 후 곧바로 실증 확장</a:t>
            </a:r>
            <a:r>
              <a:rPr sz="1500" b="0">
                <a:solidFill>
                  <a:srgbClr val="1E293B"/>
                </a:solidFill>
                <a:latin typeface="맑은 고딕"/>
              </a:rPr>
              <a:t>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340156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3401568" cy="86868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24328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1단계</a:t>
            </a:r>
            <a:r>
              <a:rPr sz="1300" b="0">
                <a:solidFill>
                  <a:srgbClr val="CBD5E1"/>
                </a:solidFill>
                <a:latin typeface="맑은 고딕"/>
              </a:rPr>
              <a:t>   M+1~3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외부 검증·고도화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289864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임금체불 명단·근로사건 매칭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누수 제거 재학습·실측 가중치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개방판 데이터 전환 착수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514600"/>
            <a:ext cx="340156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514600"/>
            <a:ext cx="3401568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2624328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2단계</a:t>
            </a:r>
            <a:r>
              <a:rPr sz="1300" b="0">
                <a:solidFill>
                  <a:srgbClr val="CBD5E1"/>
                </a:solidFill>
                <a:latin typeface="맑은 고딕"/>
              </a:rPr>
              <a:t>   M+4~6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01752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광역 시범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3611880"/>
            <a:ext cx="289864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1개 광역 지자체·지청 협력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상위 50~100개 사전 점검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점검 결과 모델 환류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2" y="2514600"/>
            <a:ext cx="340156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2514600"/>
            <a:ext cx="340156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2624328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3단계</a:t>
            </a:r>
            <a:r>
              <a:rPr sz="1300" b="0">
                <a:solidFill>
                  <a:srgbClr val="CBD5E1"/>
                </a:solidFill>
                <a:latin typeface="맑은 고딕"/>
              </a:rPr>
              <a:t>   M+7~12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01752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전국 확산·시스템 연계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611880"/>
            <a:ext cx="289864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노동포털·EPS·고용24 연계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지원기관 4~6곳 연동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</a:rPr>
              <a:t>•  자동 재학습 스케줄러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06 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맑은 고딕"/>
              </a:rPr>
              <a:t>한계를 정직하게 — 그리고 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35640" cy="279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16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맑은 고딕"/>
              </a:rPr>
              <a:t>WageGuard · 셀 단위 감독 우선순위 스크리닝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517550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109728" cy="178308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039111"/>
            <a:ext cx="46268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F2A43"/>
                </a:solidFill>
                <a:latin typeface="맑은 고딕"/>
              </a:rPr>
              <a:t>명단의 대표성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체불 명단은 고액·상습 확정자 위주의 선별 표본이다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E293B"/>
                </a:solidFill>
                <a:latin typeface="맑은 고딕"/>
              </a:rPr>
              <a:t>→ 근로감독 결과·진정 통계 등 추가 지표로 검증 확장 (로드맵 1단계)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874519"/>
            <a:ext cx="517550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874519"/>
            <a:ext cx="109728" cy="1783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039111"/>
            <a:ext cx="46268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맑은 고딕"/>
              </a:rPr>
              <a:t>셀 단위의 해상도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셀 안의 개별 사업장 위험까지는 구분하지 못한다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E293B"/>
                </a:solidFill>
                <a:latin typeface="맑은 고딕"/>
              </a:rPr>
              <a:t>→ 감독관 행정데이터와 결합하는 시범 적용 단계에서 정밀화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199"/>
            <a:ext cx="517550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886199"/>
            <a:ext cx="109728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050791"/>
            <a:ext cx="46268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F59E0B"/>
                </a:solidFill>
                <a:latin typeface="맑은 고딕"/>
              </a:rPr>
              <a:t>시계열 미검증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LNN 조기 경보는 합성 데이터 시뮬레이션 결과다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E293B"/>
                </a:solidFill>
                <a:latin typeface="맑은 고딕"/>
              </a:rPr>
              <a:t>→ 고용보험 이력 등 실제 시계열 확보 후 재검증 (로드맵 1단계)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886199"/>
            <a:ext cx="517550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3886199"/>
            <a:ext cx="109728" cy="1783080"/>
          </a:xfrm>
          <a:prstGeom prst="rect">
            <a:avLst/>
          </a:prstGeom>
          <a:solidFill>
            <a:srgbClr val="E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050791"/>
            <a:ext cx="46268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EF4B4B"/>
                </a:solidFill>
                <a:latin typeface="맑은 고딕"/>
              </a:rPr>
              <a:t>분류 크로스워크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4748B"/>
                </a:solidFill>
                <a:latin typeface="맑은 고딕"/>
              </a:rPr>
              <a:t>국민연금 업종코드(구분류)→현행 대분류 매핑은 근사치다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E293B"/>
                </a:solidFill>
                <a:latin typeface="맑은 고딕"/>
              </a:rPr>
              <a:t>→ 사업자번호 기반 정밀 연계는 기관 협력 단계에서 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맑은 고딕"/>
              </a:rPr>
              <a:t>한계를 아는 시스템이 현장에서 신뢰받는 시스템입니다.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37160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신고할 수 없는 피해자를,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국가가 </a:t>
            </a:r>
            <a:r>
              <a:rPr sz="3400" b="1">
                <a:solidFill>
                  <a:srgbClr val="14B8A6"/>
                </a:solidFill>
                <a:latin typeface="맑은 고딕"/>
              </a:rPr>
              <a:t>먼저 찾아가도록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3401568" cy="1463040"/>
          </a:xfrm>
          <a:prstGeom prst="roundRect">
            <a:avLst>
              <a:gd name="adj" fmla="val 8000"/>
            </a:avLst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340156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B8A6"/>
                </a:solidFill>
                <a:latin typeface="맑은 고딕"/>
              </a:rPr>
              <a:t>선제 스크리닝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94760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맑은 고딕"/>
              </a:rPr>
              <a:t>신고 이전에 공공데이터로 고위험 셀 발굴 · 감독 우선순위 제안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3108960"/>
            <a:ext cx="3401568" cy="1463040"/>
          </a:xfrm>
          <a:prstGeom prst="roundRect">
            <a:avLst>
              <a:gd name="adj" fmla="val 8000"/>
            </a:avLst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3108960"/>
            <a:ext cx="340156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333756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B8A6"/>
                </a:solidFill>
                <a:latin typeface="맑은 고딕"/>
              </a:rPr>
              <a:t>실측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794760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맑은 고딕"/>
              </a:rPr>
              <a:t>독립 명단 5.2배(고용)·2.4배(사업장) · 홀드아웃 4.7배 · p=0.006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3108960"/>
            <a:ext cx="3401568" cy="1463040"/>
          </a:xfrm>
          <a:prstGeom prst="roundRect">
            <a:avLst>
              <a:gd name="adj" fmla="val 8000"/>
            </a:avLst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3108960"/>
            <a:ext cx="340156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333756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B8A6"/>
                </a:solidFill>
                <a:latin typeface="맑은 고딕"/>
              </a:rPr>
              <a:t>법적 청정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3794760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맑은 고딕"/>
              </a:rPr>
              <a:t>승인 불필요 공개 데이터만으로 재구축 · 즉시 실증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맑은 고딕"/>
              </a:rPr>
              <a:t>윤리 원칙 — </a:t>
            </a:r>
            <a:r>
              <a:rPr sz="1250" b="0">
                <a:solidFill>
                  <a:srgbClr val="CBD5E1"/>
                </a:solidFill>
                <a:latin typeface="맑은 고딕"/>
              </a:rPr>
              <a:t>개인 비식별 통계만 사용 · 법적 기준 라벨 · 자동 처벌 금지, 점검 우선순위 제안으로만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715000"/>
            <a:ext cx="10607040" cy="19050"/>
          </a:xfrm>
          <a:prstGeom prst="rect">
            <a:avLst/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감사합니다.  </a:t>
            </a:r>
            <a:r>
              <a:rPr sz="1300" b="0">
                <a:solidFill>
                  <a:srgbClr val="94A3B8"/>
                </a:solidFill>
                <a:latin typeface="맑은 고딕"/>
              </a:rPr>
              <a:t>선문대학교 컴퓨터공학과 김태성  ·  github.com/kts6450/WageGuard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